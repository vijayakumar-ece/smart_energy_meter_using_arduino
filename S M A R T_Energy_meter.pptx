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85" r:id="rId3"/>
    <p:sldId id="256" r:id="rId4"/>
    <p:sldId id="257" r:id="rId5"/>
    <p:sldId id="263" r:id="rId6"/>
    <p:sldId id="298" r:id="rId8"/>
    <p:sldId id="293" r:id="rId9"/>
    <p:sldId id="294" r:id="rId10"/>
    <p:sldId id="299" r:id="rId11"/>
    <p:sldId id="300" r:id="rId12"/>
    <p:sldId id="310" r:id="rId13"/>
    <p:sldId id="306" r:id="rId14"/>
    <p:sldId id="268" r:id="rId15"/>
    <p:sldId id="269" r:id="rId16"/>
    <p:sldId id="305" r:id="rId17"/>
    <p:sldId id="29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2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8" autoAdjust="0"/>
  </p:normalViewPr>
  <p:slideViewPr>
    <p:cSldViewPr showGuides="1">
      <p:cViewPr>
        <p:scale>
          <a:sx n="75" d="100"/>
          <a:sy n="75" d="100"/>
        </p:scale>
        <p:origin x="1666" y="389"/>
      </p:cViewPr>
      <p:guideLst>
        <p:guide orient="horz" pos="2160"/>
        <p:guide pos="2872"/>
        <p:guide orient="horz" pos="22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994C-9CB1-469B-90FF-DDD883BF207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08433-8834-4760-B129-BF33651EC0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08433-8834-4760-B129-BF33651EC09C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08433-8834-4760-B129-BF33651EC09C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7CCFC-38E0-4FAF-AA58-B3BF25DA11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3F495-7F05-48B6-B119-CD35E2F3192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microchip.com/en-us/product/atmega328p?utm_source=chatgpt.com" TargetMode="External"/><Relationship Id="rId2" Type="http://schemas.openxmlformats.org/officeDocument/2006/relationships/hyperlink" Target="https://www.allegromicro.com/en/products/sense/current-sensor-ics/integrated-current-sensors/acs712?utm_source=chatgpt.com" TargetMode="External"/><Relationship Id="rId1" Type="http://schemas.openxmlformats.org/officeDocument/2006/relationships/hyperlink" Target="https://docs.arduino.cc/hardware/uno-rev3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359781" y="2057400"/>
            <a:ext cx="9736667" cy="677545"/>
          </a:xfrm>
        </p:spPr>
        <p:txBody>
          <a:bodyPr>
            <a:normAutofit/>
          </a:bodyPr>
          <a:lstStyle/>
          <a:p>
            <a:pPr algn="ctr"/>
            <a:r>
              <a:rPr lang="en-US" sz="2300" b="1" dirty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</a:rPr>
              <a:t>Department of Electronics and Communication Engineering     </a:t>
            </a:r>
            <a:endParaRPr lang="en-US" sz="2300" b="1" dirty="0">
              <a:solidFill>
                <a:schemeClr val="tx1"/>
              </a:solidFill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028" name="Picture 4" descr="Muthayammal Engineering College - An Autonomous Institu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" y="81280"/>
            <a:ext cx="1042035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2"/>
          <p:cNvSpPr txBox="1"/>
          <p:nvPr/>
        </p:nvSpPr>
        <p:spPr>
          <a:xfrm>
            <a:off x="5486400" y="4323935"/>
            <a:ext cx="3890486" cy="1625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 Team Members:</a:t>
            </a:r>
            <a:endParaRPr lang="en-IN" sz="2000" b="1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  1. Sharmila V(23EC166)</a:t>
            </a:r>
            <a:endParaRPr lang="en-US" altLang="en-IN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</a:rPr>
              <a:t>  2. Srimathi T(23EC149)</a:t>
            </a:r>
            <a:endParaRPr lang="en-US" altLang="en-IN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</a:rPr>
              <a:t>  3. Vijayakumar S(23EC166</a:t>
            </a:r>
            <a:r>
              <a:rPr lang="en-US" altLang="en-IN" dirty="0">
                <a:latin typeface="Microsoft YaHei UI" panose="020B0503020204020204" charset="-122"/>
                <a:ea typeface="Microsoft YaHei UI" panose="020B0503020204020204" charset="-122"/>
                <a:cs typeface="Bahnschrift SemiBold" panose="020B0502040204020203" charset="0"/>
              </a:rPr>
              <a:t>)</a:t>
            </a: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altLang="en-IN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4296234"/>
            <a:ext cx="3766661" cy="1751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Project Guide:</a:t>
            </a:r>
            <a:endParaRPr lang="en-IN" b="1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Dr.J.Kirubakaran,</a:t>
            </a:r>
            <a:endParaRPr lang="en-US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Ass</a:t>
            </a: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ociate</a:t>
            </a:r>
            <a:r>
              <a:rPr 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 Professo</a:t>
            </a: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r,</a:t>
            </a:r>
            <a:endParaRPr lang="en-US" altLang="en-IN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Department of </a:t>
            </a:r>
            <a:r>
              <a:rPr lang="en-IN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ECE,</a:t>
            </a:r>
            <a:endParaRPr lang="en-IN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Microsoft YaHei UI" panose="020B0503020204020204" charset="-122"/>
                <a:cs typeface="Times New Roman" panose="02020603050405020304" pitchFamily="18" charset="0"/>
              </a:rPr>
              <a:t>Muthayammal Engineering College.</a:t>
            </a:r>
            <a:endParaRPr lang="en-US" dirty="0">
              <a:latin typeface="Times New Roman" panose="02020603050405020304" pitchFamily="18" charset="0"/>
              <a:ea typeface="Microsoft YaHei UI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1000" y="3314064"/>
            <a:ext cx="228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Batch No : 10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1"/>
          <p:cNvSpPr txBox="1"/>
          <p:nvPr/>
        </p:nvSpPr>
        <p:spPr>
          <a:xfrm>
            <a:off x="-152400" y="128058"/>
            <a:ext cx="10297160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3600" b="1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MUTHAYAMMAL ENGINEERING COLLEGE</a:t>
            </a:r>
            <a:br>
              <a:rPr lang="en-IN" sz="40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</a:br>
            <a:r>
              <a:rPr lang="en-IN" sz="16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IN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IN" sz="20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(An Autonomous Institution)</a:t>
            </a:r>
            <a:br>
              <a:rPr lang="en-IN" sz="20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</a:br>
            <a:r>
              <a:rPr lang="en-IN" sz="2000" dirty="0"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Rasipuram - 637 408, Namakkal Dt, Tamil Nadu, India</a:t>
            </a:r>
            <a:endParaRPr lang="en-IN" sz="2000" dirty="0"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693987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Energy Meter Using Arduino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280" y="1056640"/>
            <a:ext cx="8229600" cy="5791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Energy Meter is designed using Arduino UNO to measure electrical energy consumption.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and current sensors are used to monitor electrical parameters in real time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voltage, current, and power consumption accurately.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values are displayed digitally on an LCD display for easy monitoring.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in reducing power wastage and improving energy management.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upgraded with IoT technology for remote monitoring and smart billing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914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LITRATURE SURVEY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386916" cy="57911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609600"/>
          <a:ext cx="8401465" cy="6086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3900"/>
                <a:gridCol w="1920240"/>
                <a:gridCol w="2506125"/>
                <a:gridCol w="1981200"/>
              </a:tblGrid>
              <a:tr h="558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Title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Author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/>
                        <a:t>Methodology</a:t>
                      </a:r>
                      <a:endParaRPr lang="en-US" sz="16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Limitations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2438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Aeduino Based Digital Energy Meter for Smart Enegry Monitoring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Patel, M. Sharma,A.Kumar,R.Singh ,Shuolian Ding,Stavros Koulouridis.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Designed and developed a digital energy meter using Arduino UNO, voltage sensor, and current sensor to measure and display voltage, current, power, and energy consumption on an LCD display in real time</a:t>
                      </a:r>
                      <a:br>
                        <a:rPr lang="en-US" dirty="0"/>
                      </a:b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digital energy meter may face accuracy issues due to sensor calibration and electrical noise.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2398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Digital Power Consumption Meter Using Arduino.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P.Rajkumar,Naveen,Sharma,Patel, IEEE. 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The proposed system uses an Arduino UNO, voltage sensor, and current sensor to measure electrical parameters in real time</a:t>
                      </a:r>
                      <a:r>
                        <a:rPr lang="en-US" dirty="0"/>
                        <a:t>.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accuracy may occur due to sensor calibration errors and electrical noise during measurement.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33400" y="381000"/>
          <a:ext cx="8064810" cy="60898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0000"/>
                <a:gridCol w="1764000"/>
                <a:gridCol w="2696760"/>
                <a:gridCol w="1984050"/>
              </a:tblGrid>
              <a:tr h="61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/>
                        <a:t>       Title</a:t>
                      </a:r>
                      <a:endParaRPr lang="en-US" sz="1800" dirty="0"/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/>
                        <a:t>       Author</a:t>
                      </a:r>
                      <a:endParaRPr lang="en-US" sz="1800" dirty="0"/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         Methodology</a:t>
                      </a:r>
                      <a:endParaRPr lang="en-US" dirty="0"/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/>
                        <a:t>   Limitations</a:t>
                      </a:r>
                      <a:endParaRPr lang="en-US" sz="1800" dirty="0"/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663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Implantable Antennas for Bio-Medical Applications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/>
                        <a:t>Nabeel Ahmed Malik,Paul Sant,Tahmina Ajmal,Masood ur-Rehman</a:t>
                      </a:r>
                      <a:endParaRPr lang="en-US" sz="1800" b="0" dirty="0"/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/>
                        <a:t> </a:t>
                      </a:r>
                      <a:r>
                        <a:rPr lang="en-US" dirty="0"/>
                        <a:t>Reviewed and compared various implantable antenna designs for medical telemetry and in-body communication.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Biocompatibility and detuning in heterogeneous tissues remain major challenges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2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Performance evaluation for MIMO in vivo WBAN systems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dirty="0"/>
                        <a:t>Chao He, Yang Liu, Thomas  Ketterl, Gabriel  Arrobo</a:t>
                      </a:r>
                      <a:r>
                        <a:rPr lang="en-US" sz="1800" dirty="0"/>
                        <a:t>, IEEE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Analyzed and simulated MIMO communication performance inside the human body using realistic electromagnetic models.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tissue absorption limits achievable data rates and signal strength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</a:tr>
              <a:tr h="2189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Dual-Band Skin-Adhesive Repeater Antenna for Continuous Body Signals Monitoring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Jaco M .Felicio, Jorge R. Costa, Carlos A. Fernandes, IEEE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a skin-conformal dual-band repeater antenna for continuous signal relay between implanted and external sensors.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flexibility and reduced efficiency due to skin-air interface mismatch.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6388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analog energy meters are commonly used to measure electricity consumption in residential and industrial applications.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energy meters with IoT technology provide remote monitoring and automatic billing features.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energy monitoring systems using microcontrollers offer improved accuracy and real-time data display.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 mutual coupling between antenna elements reduces isolation and efficiency.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Performance degrades when bent of placed on curved or irregular surfaces.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Arduino UNO for real-time energy monitoring and calculation.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and current sensors are used to measure electrical parameters accurately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voltage, current, power, and energy consumption automatically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LCD display is used to show the measured readings digitally.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monitor electricity usage and reduce power wastage.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design is low cost, compact, and easy to implement for domestic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33741" r="-1440" b="30237"/>
          <a:stretch>
            <a:fillRect/>
          </a:stretch>
        </p:blipFill>
        <p:spPr>
          <a:xfrm>
            <a:off x="2362200" y="2590800"/>
            <a:ext cx="3124200" cy="16303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4953000"/>
            <a:ext cx="754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75" b="33950"/>
          <a:stretch>
            <a:fillRect/>
          </a:stretch>
        </p:blipFill>
        <p:spPr>
          <a:xfrm>
            <a:off x="762000" y="1295400"/>
            <a:ext cx="7638214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SUBSTRATE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                                                     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b="1" dirty="0"/>
              <a:t>  </a:t>
            </a:r>
            <a:endParaRPr lang="en-IN" b="1" dirty="0"/>
          </a:p>
          <a:p>
            <a:pPr marL="0" indent="0" algn="ctr">
              <a:buNone/>
            </a:pPr>
            <a:r>
              <a:rPr lang="en-IN" b="1" dirty="0"/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Substrate With Fat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837944"/>
            <a:ext cx="617220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381000"/>
            <a:ext cx="8305801" cy="838200"/>
          </a:xfrm>
        </p:spPr>
        <p:txBody>
          <a:bodyPr>
            <a:normAutofit fontScale="90000"/>
          </a:bodyPr>
          <a:lstStyle/>
          <a:p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Modeling of Seamless Geometric Pattern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4500" y="1676400"/>
                <a:ext cx="8255000" cy="5308600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Voltage Measurement</a:t>
                </a:r>
                <a:endParaRPr lang="en-US" alt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V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Vmax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​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sin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(</m:t>
                    </m:r>
                    <m:r>
                      <m:rPr>
                        <m:nor/>
                      </m:rPr>
                      <a:rPr lang="el-GR" sz="1800">
                        <a:latin typeface="Cambria Math" panose="02040503050406030204" charset="0"/>
                      </a:rPr>
                      <m:t>ω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t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    (1)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1" dirty="0"/>
                  <a:t>Step 2: Current Measurement</a:t>
                </a:r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         I=Imax​sin(</a:t>
                </a:r>
                <a:r>
                  <a:rPr lang="el-GR" sz="1800" dirty="0"/>
                  <a:t>ω</a:t>
                </a:r>
                <a:r>
                  <a:rPr lang="en-US" sz="1800" dirty="0"/>
                  <a:t>t)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                           (2)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Power Calculation</a:t>
                </a:r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charset="0"/>
                      </a:rPr>
                      <m:t>𝑃</m:t>
                    </m:r>
                    <m:r>
                      <a:rPr lang="en-US" sz="1800">
                        <a:latin typeface="Cambria Math" panose="02040503050406030204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charset="0"/>
                      </a:rPr>
                      <m:t>𝑉</m:t>
                    </m:r>
                    <m:r>
                      <a:rPr lang="en-US" sz="1800">
                        <a:latin typeface="Cambria Math" panose="02040503050406030204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charset="0"/>
                      </a:rPr>
                      <m:t>𝐼</m:t>
                    </m:r>
                  </m:oMath>
                </a14:m>
                <a:r>
                  <a:rPr 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                         (3)</a:t>
                </a:r>
                <a:endParaRPr lang="en-IN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</a:t>
                </a:r>
                <a:r>
                  <a:rPr lang="en-US" sz="1800" dirty="0"/>
                  <a:t>Unit Calculation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IN" sz="1900" dirty="0"/>
                  <a:t>                   </a:t>
                </a:r>
                <a:r>
                  <a:rPr lang="en-US" sz="1800" dirty="0"/>
                  <a:t>Energy(kWh)=1000P×t​                        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           (4)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Energy Consumption Calculation</a:t>
                </a:r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charset="0"/>
                      </a:rPr>
                      <m:t>                                              </m:t>
                    </m:r>
                    <m:r>
                      <a:rPr lang="en-US" sz="1800" i="1" smtClean="0">
                        <a:latin typeface="Cambria Math" panose="02040503050406030204" charset="0"/>
                      </a:rPr>
                      <m:t>𝐸</m:t>
                    </m:r>
                    <m:r>
                      <a:rPr lang="en-US" sz="1800">
                        <a:latin typeface="Cambria Math" panose="02040503050406030204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charset="0"/>
                      </a:rPr>
                      <m:t>𝑃</m:t>
                    </m:r>
                    <m:r>
                      <a:rPr lang="en-US" sz="1800">
                        <a:latin typeface="Cambria Math" panose="02040503050406030204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(5)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1676400"/>
                <a:ext cx="8255000" cy="53086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FABRICATED RESULTS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" b="1282"/>
          <a:stretch>
            <a:fillRect/>
          </a:stretch>
        </p:blipFill>
        <p:spPr bwMode="auto">
          <a:xfrm>
            <a:off x="1295400" y="1447800"/>
            <a:ext cx="6553200" cy="35312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62000" y="5163809"/>
            <a:ext cx="80772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Figure 2: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Real-time Setup of the Digital energy meter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7400"/>
            <a:ext cx="8382000" cy="56896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/>
              <a:t>The proposed digital energy meter successfully measures voltage, current, power, and energy consumption in real time.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Arduino UNO provides accurate processing and efficient monitoring of electrical parameters.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The LCD display enables easy and continuous observation of energy usage.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The system helps users reduce electricity wastage and improve energy management.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The proposed design is cost-effective, compact, and suitable for domestic and small-scale industrial applications.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Future enhancements such as IoT integration can enable remote monitoring and smart billing features.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A. Kumar, R. Singh, “Arduino Based Digital Energy Meter for Smart Monitoring Applications,” International Journal of Engineering Research and Technology (IJERT), 2022.</a:t>
            </a:r>
            <a:endParaRPr lang="en-US" sz="18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S. Patel, M. Sharma, “Smart Energy Meter using Arduino and IoT,” International Journal of Innovative Research in Science and Engineering, 2021.</a:t>
            </a:r>
            <a:endParaRPr lang="en-US" sz="18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P. Rajkumar, K. Naveen, “Real-Time Power Monitoring System using Arduino,” IEEE International Conference on Smart Systems, 2023.</a:t>
            </a:r>
            <a:endParaRPr lang="en-US" sz="18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M. Kumar, D. Prakash, “Digital Power Consumption Measurement using Embedded Systems,” International Journal of Electronics and Communication Engineering,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381000" y="762000"/>
            <a:ext cx="8458200" cy="5715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it-IT" sz="1800" dirty="0"/>
              <a:t>Arduino Official Documentation, “Arduino UNO Rev3 Technical Specifications.”</a:t>
            </a:r>
            <a:br>
              <a:rPr lang="it-IT" sz="1800" dirty="0"/>
            </a:br>
            <a:r>
              <a:rPr lang="it-IT" sz="1800" dirty="0">
                <a:hlinkClick r:id="rId1"/>
              </a:rPr>
              <a:t>Arduino UNO Documentation</a:t>
            </a:r>
            <a:endParaRPr lang="it-IT" sz="1800" dirty="0"/>
          </a:p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en-US" sz="1800" dirty="0"/>
              <a:t>Allegro Microsystems, “ACS712 Fully Integrated Hall Effect-Based Linear Current Sensor IC Datasheet for Current Measurement Applications,” Allegro </a:t>
            </a:r>
            <a:r>
              <a:rPr lang="en-US" sz="1800" dirty="0" err="1"/>
              <a:t>MicroSystems</a:t>
            </a:r>
            <a:r>
              <a:rPr lang="en-US" sz="1800" dirty="0"/>
              <a:t> LLC, 2021.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ACS712 Sensor Datasheet and Technical Details</a:t>
            </a:r>
            <a:endParaRPr lang="en-US" sz="1800" dirty="0"/>
          </a:p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en-US" sz="1800" dirty="0"/>
              <a:t>Atmel Corporation, “ATmega328P 8-bit AVR Microcontroller with 32K Bytes In-System Programmable Flash: Technical Reference and Hardware Specifications,” Microchip Technology Inc., 2020.</a:t>
            </a:r>
            <a:br>
              <a:rPr lang="en-US" sz="1800" dirty="0"/>
            </a:br>
            <a:r>
              <a:rPr lang="en-US" sz="1800" dirty="0">
                <a:hlinkClick r:id="rId3"/>
              </a:rPr>
              <a:t>ATmega328P Complete Technical Datasheet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6535</Words>
  <Application>WPS Presentation</Application>
  <PresentationFormat>On-screen Show (4:3)</PresentationFormat>
  <Paragraphs>174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Microsoft YaHei UI</vt:lpstr>
      <vt:lpstr>Times New Roman</vt:lpstr>
      <vt:lpstr>Bahnschrift SemiBold</vt:lpstr>
      <vt:lpstr>Calibri</vt:lpstr>
      <vt:lpstr>Cambria Math</vt:lpstr>
      <vt:lpstr>MS Mincho</vt:lpstr>
      <vt:lpstr>Yu Gothic UI</vt:lpstr>
      <vt:lpstr>Cambria</vt:lpstr>
      <vt:lpstr>Microsoft YaHei</vt:lpstr>
      <vt:lpstr>Arial Unicode MS</vt:lpstr>
      <vt:lpstr>Office Theme</vt:lpstr>
      <vt:lpstr> Department of Electronics and Communication Engineering     </vt:lpstr>
      <vt:lpstr>Digital Energy Meter Using Arduino</vt:lpstr>
      <vt:lpstr>ABSTRACT </vt:lpstr>
      <vt:lpstr>LITRATURE SURVEY</vt:lpstr>
      <vt:lpstr>PowerPoint 演示文稿</vt:lpstr>
      <vt:lpstr>EXISTING SYSTEM </vt:lpstr>
      <vt:lpstr>PROPOSED SYSTEM </vt:lpstr>
      <vt:lpstr>DIAGRAM</vt:lpstr>
      <vt:lpstr>ANTENNA SUBSTRATE</vt:lpstr>
      <vt:lpstr> Mathematical Modeling of Seamless Geometric Pattern </vt:lpstr>
      <vt:lpstr>FABRICATED RESULTS</vt:lpstr>
      <vt:lpstr>CONCLUSION </vt:lpstr>
      <vt:lpstr>REFERENCES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sdpro 8.1 64</dc:creator>
  <cp:lastModifiedBy>vijay</cp:lastModifiedBy>
  <cp:revision>135</cp:revision>
  <dcterms:created xsi:type="dcterms:W3CDTF">2021-10-29T09:54:00Z</dcterms:created>
  <dcterms:modified xsi:type="dcterms:W3CDTF">2026-05-19T11:56:16Z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BFC0B7D0C37F4A7FBDE6FE26D9CBCDF7_12</vt:lpwstr>
  </property>
</Properties>
</file>